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</Relationships>
</file>

<file path=ppt/slides/slide1.xml><?xml version="1.0" encoding="UTF-8" standalone="yes"?>
<p:sld xmlns:p="http://schemas.openxmlformats.org/presentationml/2006/main">
  <p:cSld>
    <p:bg><p:bgPr><a:solidFill xmlns:a="http://schemas.openxmlformats.org/drawingml/2006/main"><a:srgbClr val="1a1a1a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 anchor="ctr"/><a:lstStyle/><a:p><a:r><a:rPr lang="en-US" sz="7200" b="1" solidFill="FFFFFF"/><a:t>THE TULSA RACE MASSACRE</a:t></a:r></a:p><a:p><a:br/></a:p><a:p><a:r><a:rPr lang="en-US" sz="2800" i="1" solidFill="FFCCCC"/><a:t>A story about real people, real loss,</a:t></a:r></a:p><a:p><a:r><a:rPr lang="en-US" sz="2800" i="1" solidFill="FFCCCC"/><a:t>and the fight for justice 100+ years later.</a:t></a:r></a:p><a:p><a:br/></a:p><a:p><a:r><a:rPr lang="en-US" sz="2400" solidFill="CCCCCC"/><a:t>May 31 - June 1, 1921</a:t></a:r></a:p></p:txBody></p:sp>
    </p:spTree>
  </p:cSld>
</p:sld>
</file>

<file path=ppt/slides/slide2.xml><?xml version="1.0" encoding="UTF-8" standalone="yes"?>
<p:sld xmlns:p="http://schemas.openxmlformats.org/presentationml/2006/main">
  <p:cSld>
    <p:bg><p:bgPr><a:solidFill xmlns:a="http://schemas.openxmlformats.org/drawingml/2006/main"><a:srgbClr val="E6F2FF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1a1a8b"/><a:t>GREENWOOD: A DREAM COMMUNITY</a:t></a:r></a:p></p:txBody></p:sp>
      <p:sp><p:nvSpPr><p:cNvPr id="3" name="Content"/><p:cNvSpPr/><p:nvPr/></p:nvSpPr><p:spPr/><p:txBody><a:bodyPr xmlns:a="http://schemas.openxmlformats.org/drawingml/2006/main"/><a:lstStyle/><a:p><a:r><a:rPr lang="en-US" sz="2400" i="1" solidFill="000000"/><a:t>Imagine a community where Black Americans could build wealth,</a:t></a:r></a:p><a:p><a:r><a:rPr lang="en-US" sz="2400" i="1" solidFill="000000"/><a:t>own businesses, and raise their families free from white control.</a:t></a:r></a:p><a:p><a:br/></a:p><a:p><a:r><a:rPr lang="en-US" sz="2200"/><a:t>That was Greenwood in 1921:</a:t></a:r></a:p><a:p><a:r><a:rPr lang="en-US" sz="2000"/><a:t>• 10,000 Black residents thriving in 35 city blocks</a:t></a:r></a:p><a:p><a:r><a:rPr lang="en-US" sz="2000"/><a:t>• Doctors and lawyers living next to shopkeepers</a:t></a:r></a:p><a:p><a:r><a:rPr lang="en-US" sz="2000"/><a:t>• $100 million in wealth (roughly $1.5 billion today)</a:t></a:r></a:p><a:p><a:r><a:rPr lang="en-US" sz="2000"/><a:t>• Newspapers called it "Black Wall Street"</a:t></a:r></a:p><a:p><a:br/></a:p><a:p><a:r><a:rPr lang="en-US" sz="2200" i="1" solidFill="8B0000"/><a:t>But this success made them a target.</a:t></a:r></a:p></p:txBody></p:sp>
    </p:spTree>
  </p:cSld>
</p:sld>
</file>

<file path=ppt/slides/slide3.xml><?xml version="1.0" encoding="UTF-8" standalone="yes"?>
<p:sld xmlns:p="http://schemas.openxmlformats.org/presentationml/2006/main">
  <p:cSld>
    <p:bg><p:bgPr><a:solidFill xmlns:a="http://schemas.openxmlformats.org/drawingml/2006/main"><a:srgbClr val="1a1a1a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FFFF00"/><a:t>ONE MOMENT CHANGED EVERYTHING</a:t></a:r></a:p></p:txBody></p:sp>
      <p:sp><p:nvSpPr><p:cNvPr id="3" name="Content"/><p:cNvSpPr/><p:nvPr/></p:nvSpPr><p:spPr/><p:txBody><a:bodyPr xmlns:a="http://schemas.openxmlformats.org/drawingml/2006/main"/><a:lstStyle/><a:p><a:r><a:rPr lang="en-US" sz="2400" b="1" solidFill="FFFFFF"/><a:t>May 30, 1921 — An Elevator Encounter</a:t></a:r></a:p><a:p><a:br/></a:p><a:p><a:r><a:rPr lang="en-US" sz="2200" solidFill="FFFFFF"/><a:t>Dick Rowland, a 19-year-old shoeshiner, enters</a:t></a:r></a:p><a:p><a:r><a:rPr lang="en-US" sz="2200" solidFill="FFFFFF"/><a:t>the Drexel Building's elevator to use the restroom.</a:t></a:r></a:p><a:p><a:br/></a:p><a:p><a:r><a:rPr lang="en-US" sz="2200" solidFill="FFFFFF"/><a:t>He meets Sarah Page, 17 years old, a white operator.</a:t></a:r></a:p><a:p><a:br/></a:p><a:p><a:r><a:rPr lang="en-US" sz="2000" i="1" solidFill="FFCCCC"/><a:t>What happened next?</a:t></a:r></a:p><a:p><a:r><a:rPr lang="en-US" sz="2000" i="1" solidFill="FFCCCC"/><a:t>No one knows. The truth died in that elevator.</a:t></a:r></a:p><a:p><a:br/></a:p><a:p><a:r><a:rPr lang="en-US" sz="2200" b="1" solidFill="FF6B6B"/><a:t>But the STORY killed thousands:</a:t></a:r></a:p><a:p><a:r><a:rPr lang="en-US" sz="2200" b="1" solidFill="FF6B6B"/><a:t>"TO LYNCH NEGRO TONIGHT"</a:t></a:r></a:p><a:p><a:r><a:rPr lang="en-US" sz="2000" solidFill="FFCCCC"/><a:t>— Tulsa Tribune headline</a:t></a:r></a:p></p:txBody></p:sp>
    </p:spTree>
  </p:cSld>
</p:sld>
</file>

<file path=ppt/slides/slide4.xml><?xml version="1.0" encoding="UTF-8" standalone="yes"?>
<p:sld xmlns:p="http://schemas.openxmlformats.org/presentationml/2006/main">
  <p:cSld>
    <p:bg><p:bgPr><a:solidFill xmlns:a="http://schemas.openxmlformats.org/drawingml/2006/main"><a:srgbClr val="FFE6E6"/></a:solidFill></p:bgPr></p:bg>
    <p:spTree>
      <p:nvGrpSpPr><p:cNvPr id="1" name="1"/><p:cNvGrpSpPr/><p:nvPr/></p:nv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8B0000"/><a:t>12 HOURS OF HELL</a:t></a:r></a:p></p:txBody></p:sp>
      <p:sp><p:nvSpPr><p:cNvPr id="3" name="Timeline"/><p:cNvSpPr/><p:nvPr/></p:nvSpPr><p:spPr/><p:txBody><a:bodyPr xmlns:a="http://schemas.openxmlformats.org/drawingml/2006/main"/><a:lstStyle/><a:p><a:r><a:rPr lang="en-US" sz="2000" b="1" i="1"/><a:t>Midnight—Armed men converge on the courthouse.</a:t></a:r></a:p><a:p><a:r><a:rPr lang="en-US" sz="1900"/><a:t>Black men from Greenwood rush to protect Dick Rowland.</a:t></a:r></a:p><a:p><a:br/></a:p><a:p><a:r><a:rPr lang="en-US" sz="2000" b="1" i="1"/><a:t>GUNSHOT. First blood. Then chaos.</a:t></a:r></a:p><a:p><a:r><a:rPr lang="en-US" sz="1900"/><a:t>Black residents retreat to Greenwood, outnumbered.</a:t></a:r></a:p><a:p><a:br/></a:p><a:p><a:r><a:rPr lang="en-US" sz="2000" b="1" i="1"/><a:t>1-6 AM—Mobs flood into Greenwood.</a:t></a:r></a:p><a:p><a:r><a:rPr lang="en-US" sz="1900"/><a:t>They block firefighters. They loot homes. They shoot anyone they see.</a:t></a:r></a:p><a:p><a:br/></a:p><a:p><a:r><a:rPr lang="en-US" sz="2000" b="1" i="1"/><a:t>By sunrise—35 blocks are rubble.</a:t></a:r></a:p><a:p><a:r><a:rPr lang="en-US" sz="1900"/><a:t>The dream is gone. The community is burning.</a:t></a:r></a:p></p:txBody></p:sp>
    </p:spTree>
  </p:cSld>
</p:sld>
</file>

<file path=ppt/slides/slide5.xml><?xml version="1.0" encoding="UTF-8" standalone="yes"?>
<p:sld xmlns:p="http://schemas.openxmlformats.org/presentationml/2006/main">
  <p:cSld>
    <p:bg><p:bgPr><a:solidFill xmlns:a="http://schemas.openxmlformats.org/drawingml/2006/main"><a:srgbClr val="FFF5EE"/></a:solidFill></p:bgPr></p:bg>
    <p:spTree>
      <p:nvGrpSpPr><p:cNvPr id="1" name="1"/><p:cNvGrpSpPr/><p:nvPr/></p:nv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8B0000"/><a:t>THE REAL NUMBERS</a:t></a:r></a:p></p:txBody></p:sp>
      <p:sp><p:nvSpPr><p:cNvPr id="3" name="Numbers"/><p:cNvSpPr/><p:nvPr/></p:nvSpPr><p:spPr/><p:txBody><a:bodyPr xmlns:a="http://schemas.openxmlformats.org/drawingml/2006/main"/><a:lstStyle/><a:p><a:r><a:rPr lang="en-US" sz="2200" b="1"/><a:t>Deaths: 100-300+ (official: 36)</a:t></a:r></a:p><a:p><a:r><a:rPr lang="en-US" sz="1800" i="1"/><a:t>Because Black bodies were buried in mass graves at night.</a:t></a:r></a:p><a:p><a:br/></a:p><a:p><a:r><a:rPr lang="en-US" sz="2200" b="1"/><a:t>1,256 homes destroyed. 10,000 people homeless.</a:t></a:r></a:p><a:p><a:r><a:rPr lang="en-US" sz="1800" i="1"/><a:t>Families lost everything they owned.</a:t></a:r></a:p><a:p><a:br/></a:p><a:p><a:r><a:rPr lang="en-US" sz="2200" b="1"/><a:t>191 businesses erased. Doctors' offices. Banks. Theaters.</a:t></a:r></a:p><a:p><a:r><a:rPr lang="en-US" sz="1800" i="1"/><a:t>Entrepreneurs ruined. Dreams destroyed in hours.</a:t></a:r></a:p><a:p><a:br/></a:p><a:p><a:r><a:rPr lang="en-US" sz="2200" b="1"/><a:t>$1.8 million in property damage (1921)</a:t></a:r></a:p><a:p><a:r><a:rPr lang="en-US" sz="1800" i="1"/><a:t>That's about $40 million in today's money.</a:t></a:r></a:p><a:p><a:br/></a:p><a:p><a:r><a:rPr lang="en-US" sz="2200" b="1" solidFill="8B0000"/><a:t>Insurance refused to pay. The government didn't help.</a:t></a:r></a:p></p:txBody></p:sp>
    </p:spTree>
  </p:cSld>
</p:sld>
</file>

<file path=ppt/slides/slide6.xml><?xml version="1.0" encoding="UTF-8" standalone="yes"?>
<p:sld xmlns:p="http://schemas.openxmlformats.org/presentationml/2006/main">
  <p:cSld>
    <p:bg><p:bgPr><a:solidFill xmlns:a="http://schemas.openxmlformats.org/drawingml/2006/main"><a:srgbClr val="F0F5FF"/></a:solidFill></p:bgPr></p:bg>
    <p:spTree>
      <p:nvGrpSpPr><p:cNvPr id="1" name="1"/><p:cNvGrpSpPr/><p:nvPr/></p:nv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1a1a8b"/><a:t>THEY TRIED TO ERASE IT</a:t></a:r></a:p></p:txBody></p:sp>
      <p:sp><p:nvSpPr><p:cNvPr id="3" name="Content"/><p:cNvSpPr/><p:nvPr/></p:nvSpPr><p:spPr/><p:txBody><a:bodyPr xmlns:a="http://schemas.openxmlformats.org/drawingml/2006/main"/><a:lstStyle/><a:p><a:r><a:rPr lang="en-US" sz="2400" b="1"/><a:t>For 76 years: Nothing in textbooks.</a:t></a:r></a:p><a:p><a:r><a:rPr lang="en-US" sz="1900"/><a:t>Children grew up not knowing their own history.</a:t></a:r></a:p><a:p><a:br/></a:p><a:p><a:r><a:rPr lang="en-US" sz="2400" b="1"/><a:t>Survivors were silenced.</a:t></a:r></a:p><a:p><a:r><a:rPr lang="en-US" sz="1900"/><a:t>When they spoke about it, people told them to forget.</a:t></a:r></a:p><a:p><a:br/></a:p><a:p><a:r><a:rPr lang="en-US" sz="2400" b="1"/><a:t>No one was punished.</a:t></a:r></a:p><a:p><a:r><a:rPr lang="en-US" sz="1900"/><a:t>A grand jury blamed Black people for the violence.</a:t></a:r></a:p><a:p><a:br/></a:p><a:p><a:r><a:rPr lang="en-US" sz="2200" i="1" solidFill="8B0000"/><a:t>The city wanted to forget. So they forgot.</a:t></a:r></a:p></p:txBody></p:sp>
    </p:spTree>
  </p:cSld>
</p:sld>
</file>

<file path=ppt/slides/slide7.xml><?xml version="1.0" encoding="UTF-8" standalone="yes"?>
<p:sld xmlns:p="http://schemas.openxmlformats.org/presentationml/2006/main">
  <p:cSld>
    <p:bg><p:bgPr><a:solidFill xmlns:a="http://schemas.openxmlformats.org/drawingml/2006/main"><a:srgbClr val="FFF0F0"/></a:solidFill></p:bgPr></p:bg>
    <p:spTree>
      <p:nvGrpSpPr><p:cNvPr id="1" name="1"/><p:cNvGrpSpPr/><p:nvPr/></p:nv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8B0000"/><a:t>THE SURVIVORS' STORIES</a:t></a:r></a:p></p:txBody></p:sp>
      <p:sp><p:nvSpPr><p:cNvPr id="3" name="Stories"/><p:cNvSpPr/><p:nvPr/></p:nvSpPr><p:spPr/><p:txBody><a:bodyPr xmlns:a="http://schemas.openxmlformats.org/drawingml/2006/main"/><a:lstStyle/><a:p><a:r><a:rPr lang="en-US" sz="2300" b="1"/><a:t>Olivia Hooker</a:t></a:r></a:p><a:p><a:r><a:rPr lang="en-US" sz="1900"/><a:t>She was 6 years old. She watched her neighborhood burn. She lived to be 101, carrying that trauma for nearly a century.</a:t></a:r></a:p><a:p><a:br/></a:p><a:p><a:r><a:rPr lang="en-US" sz="2300" b="1"/><a:t>J.B. Jackson's Descendants</a:t></a:r></a:p><a:p><a:r><a:rPr lang="en-US" sz="1900"/><a:t>His successful grocery store and pool hall were destroyed. They sued 100 years later. The court said: too much time has passed.</a:t></a:r></a:p><a:p><a:br/></a:p><a:p><a:r><a:rPr lang="en-US" sz="2300" b="1"/><a:t>Dr. Andrew Jackson Jr.</a:t></a:r></a:p><a:p><a:r><a:rPr lang="en-US" sz="1900"/><a:t>His father was the wealthiest Black doctor in Tulsa. Everything was stolen. He spent his life fighting to tell the story.</a:t></a:r></a:p></p:txBody></p:sp>
    </p:spTree>
  </p:cSld>
</p:sld>
</file>

<file path=ppt/slides/slide8.xml><?xml version="1.0" encoding="UTF-8" standalone="yes"?>
<p:sld xmlns:p="http://schemas.openxmlformats.org/presentationml/2006/main">
  <p:cSld>
    <p:bg><p:bgPr><a:solidFill xmlns:a="http://schemas.openxmlformats.org/drawingml/2006/main"><a:srgbClr val="E6FFE6"/></a:solidFill></p:bgPr></p:bg>
    <p:spTree>
      <p:nvGrpSpPr><p:cNvPr id="1" name="1"/><p:cNvGrpSpPr/><p:nvPr/></p:nv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006400"/><a:t>WHAT DOES JUSTICE LOOK LIKE?</a:t></a:r></a:p></p:txBody></p:sp>
      <p:sp><p:nvSpPr><p:cNvPr id="3" name="Content"/><p:cNvSpPr/><p:nvPr/></p:nvSpPr><p:spPr/><p:txBody><a:bodyPr xmlns:a="http://schemas.openxmlformats.org/drawingml/2006/main"/><a:lstStyle/><a:p><a:r><a:rPr lang="en-US" sz="2200" i="1"/><a:t>Some say money—directly to families affected.</a:t></a:r></a:p><a:p><a:r><a:rPr lang="en-US" sz="2200" i="1"/><a:t>Some say education—teach this history to all kids.</a:t></a:r></a:p><a:p><a:r><a:rPr lang="en-US" sz="2200" i="1"/><a:t>Some say rebuilding—invest in Greenwood's future.</a:t></a:r></a:p><a:p><a:r><a:rPr lang="en-US" sz="2200" i="1"/><a:t>Some say all of it—money, apology, recognition, change.</a:t></a:r></a:p><a:p><a:br/></a:p><a:p><a:r><a:rPr lang="en-US" sz="2200" b="1"/><a:t>What's clear: doing nothing isn't justice.</a:t></a:r></a:p></p:txBody></p:sp>
    </p:spTree>
  </p:cSld>
</p:sld>
</file>

<file path=ppt/slides/slide9.xml><?xml version="1.0" encoding="UTF-8" standalone="yes"?>
<p:sld xmlns:p="http://schemas.openxmlformats.org/presentationml/2006/main">
  <p:cSld>
    <p:bg><p:bgPr><a:solidFill xmlns:a="http://schemas.openxmlformats.org/drawingml/2006/main"><a:srgbClr val="FFE6E6"/></a:solidFill></p:bgPr></p:bg>
    <p:spTree>
      <p:nvGrpSpPr><p:cNvPr id="1" name="1"/><p:cNvGrpSpPr/><p:nvPr/></p:nv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8B0000"/><a:t>THE HARD QUESTIONS</a:t></a:r></a:p></p:txBody></p:sp>
      <p:sp><p:nvSpPr><p:cNvPr id="3" name="Questions"/><p:cNvSpPr/><p:nvPr/></p:nvSpPr><p:spPr/><p:txBody><a:bodyPr xmlns:a="http://schemas.openxmlformats.org/drawingml/2006/main"/><a:lstStyle/><a:p><a:r><a:rPr lang="en-US" sz="2200"/><a:t>❓ How much time is too much? 76 years? 100 years?</a:t></a:r></a:p><a:p><a:r><a:rPr lang="en-US" sz="2200"/><a:t>❓ Who should pay? The city? The state? All taxpayers?</a:t></a:r></a:p><a:p><a:r><a:rPr lang="en-US" sz="2200"/><a:t>❓ If we do this for Tulsa, what about slavery? What about others?</a:t></a:r></a:p><a:p><a:r><a:rPr lang="en-US" sz="2200"/><a:t>❓ Can money actually fix what was broken?</a:t></a:r></a:p><a:p><a:r><a:rPr lang="en-US" sz="2200"/><a:t>❓ What does the city owe to people whose ancestors' wealth was stolen?</a:t></a:r></a:p><a:p><a:br/></a:p><a:p><a:r><a:rPr lang="en-US" sz="2000" i="1" solidFill="000000"/><a:t>There are no easy answers. But the questions must be asked.</a:t></a:r></a:p></p:txBody></p:sp>
    </p:spTree>
  </p:cSld>
</p:sld>
</file>

<file path=ppt/slides/slide10.xml><?xml version="1.0" encoding="UTF-8" standalone="yes"?>
<p:sld xmlns:p="http://schemas.openxmlformats.org/presentationml/2006/main">
  <p:cSld>
    <p:bg><p:bgPr><a:solidFill xmlns:a="http://schemas.openxmlformats.org/drawingml/2006/main"><a:srgbClr val="1a1a1a"/></a:solidFill></p:bgPr></p:bg>
    <p:spTree>
      <p:nvGrpSpPr><p:cNvPr id="1" name="1"/><p:cNvGrpSpPr/><p:nvPr/></p:nv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 anchor="ctr"/><a:lstStyle/><a:p><a:r><a:rPr lang="en-US" sz="6400" b="1" solidFill="FFFFFF"/><a:t>NEVER FORGET.</a:t></a:r></a:p><a:p><a:br/></a:p><a:p><a:r><a:rPr lang="en-US" sz="3600" i="1" solidFill="FFFF00"/><a:t>Learn the names. Honor the memory.</a:t></a:r></a:p><a:p><a:r><a:rPr lang="en-US" sz="3600" i="1" solidFill="FFFF00"/><a:t>Ask the hard questions.</a:t></a:r></a:p><a:p><a:r><a:rPr lang="en-US" sz="3600" i="1" solidFill="FFFF00"/><a:t>Demand justice.</a:t></a:r></a:p></p:txBody></p:sp>
    </p:spTree>
  </p:cSld>
</p:sld>
</file>