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</Relationships>
</file>

<file path=ppt/slides/slide1.xml><?xml version="1.0" encoding="UTF-8" standalone="yes"?>
<p:sld xmlns:p="http://schemas.openxmlformats.org/presentationml/2006/main">
  <p:cSld>
    <p:bg><p:bgPr><a:solidFill xmlns:a="http://schemas.openxmlformats.org/drawingml/2006/main"><a:srgbClr val="1a1a1a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 anchor="ctr"/><a:lstStyle/><a:p><a:r><a:rPr lang="en-US" sz="7200" b="1" solidFill="FFFFFF"/><a:t>THE TULSA RACE MASSACRE</a:t></a:r></a:p><a:p><a:br/></a:p><a:p><a:r><a:rPr lang="en-US" sz="3600" i="1" solidFill="FFD700"/><a:t>May 31 - June 1, 1921</a:t></a:r></a:p><a:p><a:r><a:rPr lang="en-US" sz="2800" solidFill="CCCCCC"/><a:t>America's Worst Incident of Racial Violence</a:t></a:r></a:p></p:txBody></p:sp>
    </p:spTree>
  </p:cSld>
</p:sld>
</file>

<file path=ppt/slides/slide2.xml><?xml version="1.0" encoding="UTF-8" standalone="yes"?>
<p:sld xmlns:p="http://schemas.openxmlformats.org/presentationml/2006/main">
  <p:cSld>
    <p:bg><p:bgPr><a:solidFill xmlns:a="http://schemas.openxmlformats.org/drawingml/2006/main"><a:srgbClr val="E6F2FF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1a1a8b"/><a:t>GREENWOOD: BLACK WALL STREET</a:t></a:r></a:p></p:txBody></p:sp>
      <p:sp><p:nvSpPr><p:cNvPr id="3" name="Content"/><p:cNvSpPr/><p:nvPr/></p:nvSpPr><p:spPr/><p:txBody><a:bodyPr xmlns:a="http://schemas.openxmlformats.org/drawingml/2006/main"/><a:lstStyle/><a:p><a:r><a:rPr lang="en-US" sz="2400" b="1"/><a:t>A Thriving Black Community:</a:t></a:r></a:p><a:p><a:r><a:rPr lang="en-US" sz="2200"/><a:t>• 35 city blocks of Black-owned businesses</a:t></a:r></a:p><a:p><a:r><a:rPr lang="en-US" sz="2200"/><a:t>• ~10,000 Black residents</a:t></a:r></a:p><a:p><a:r><a:rPr lang="en-US" sz="2200"/><a:t>• $100 million in wealth (1921 dollars)</a:t></a:r></a:p><a:p><a:r><a:rPr lang="en-US" sz="2200"/><a:t>• 35 grocery stores, 30 saloons, 2 theaters</a:t></a:r></a:p><a:p><a:r><a:rPr lang="en-US" sz="2200"/><a:t>• Doctors, lawyers, dentists, entrepreneurs</a:t></a:r></a:p><a:p><a:r><a:rPr lang="en-US" sz="2200" i="1"/><a:t>Success that threatened white supremacy</a:t></a:r></a:p></p:txBody></p:sp>
    </p:spTree>
  </p:cSld>
</p:sld>
</file>

<file path=ppt/slides/slide3.xml><?xml version="1.0" encoding="UTF-8" standalone="yes"?>
<p:sld xmlns:p="http://schemas.openxmlformats.org/presentationml/2006/main">
  <p:cSld>
    <p:bg><p:bgPr><a:solidFill xmlns:a="http://schemas.openxmlformats.org/drawingml/2006/main"><a:srgbClr val="1a1a1a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FFFF00"/><a:t>THE TRIGGER: MAY 30, 1921</a:t></a:r></a:p></p:txBody></p:sp>
      <p:sp><p:nvSpPr><p:cNvPr id="3" name="Content"/><p:cNvSpPr/><p:nvPr/></p:nvSpPr><p:spPr/><p:txBody><a:bodyPr xmlns:a="http://schemas.openxmlformats.org/drawingml/2006/main"/><a:lstStyle/><a:p><a:r><a:rPr lang="en-US" sz="2400" solidFill="FFFFFF"/><a:t>Dick Rowland (19) enters Drexel Building elevator</a:t></a:r></a:p><a:p><a:r><a:rPr lang="en-US" sz="2200" solidFill="CCCCCC"/><a:t>Encounters Sarah Page (17), white elevator operator</a:t></a:r></a:p><a:p><a:r><a:rPr lang="en-US" sz="2200" solidFill="CCCCCC"/><a:t>What actually happened remains unclear</a:t></a:r></a:p><a:p><a:br/></a:p><a:p><a:r><a:rPr lang="en-US" sz="2400" b="1" solidFill="FF6B6B"/><a:t>Tulsa Tribune publishes:</a:t></a:r></a:p><a:p><a:r><a:rPr lang="en-US" sz="2400" b="1" solidFill="FF6B6B"/><a:t>"TO LYNCH NEGRO TONIGHT"</a:t></a:r></a:p><a:p><a:br/></a:p><a:p><a:r><a:rPr lang="en-US" sz="2000" i="1" solidFill="FFFF00"/><a:t>A headline that ignited a massacre</a:t></a:r></a:p></p:txBody></p:sp>
    </p:spTree>
  </p:cSld>
</p:sld>
</file>

<file path=ppt/slides/slide4.xml><?xml version="1.0" encoding="UTF-8" standalone="yes"?>
<p:sld xmlns:p="http://schemas.openxmlformats.org/presentationml/2006/main">
  <p:cSld>
    <p:bg><p:bgPr><a:solidFill xmlns:a="http://schemas.openxmlformats.org/drawingml/2006/main"><a:srgbClr val="FFE6E6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THE MASSACRE: MAY 31 - JUNE 1</a:t></a:r></a:p></p:txBody></p:sp>
      <p:sp><p:nvSpPr><p:cNvPr id="3" name="Timeline"/><p:cNvSpPr/><p:nvPr/></p:nvSpPr><p:spPr/><p:txBody><a:bodyPr xmlns:a="http://schemas.openxmlformats.org/drawingml/2006/main"/><a:lstStyle/><a:p><a:r><a:rPr lang="en-US" sz="2200" b="1"/><a:t>9:00 PM, May 30: </a:t></a:r><a:r><a:rPr lang="en-US" sz="2000"/><a:t>White mobs gather at courthouse</a:t></a:r></a:p><a:p><a:r><a:rPr lang="en-US" sz="2200" b="1"/><a:t>10:00 PM: </a:t></a:r><a:r><a:rPr lang="en-US" sz="2000"/><a:t>Black men arrive to prevent lynching</a:t></a:r></a:p><a:p><a:r><a:rPr lang="en-US" sz="2200" b="1"/><a:t>Midnight: </a:t></a:r><a:r><a:rPr lang="en-US" sz="2000"/><a:t>Shots fired. Chaos erupts.</a:t></a:r></a:p><a:p><a:r><a:rPr lang="en-US" sz="2200" b="1"/><a:t>All night: </a:t></a:r><a:r><a:rPr lang="en-US" sz="2000"/><a:t>Greenwood burns. Residents shot and beaten.</a:t></a:r></a:p><a:p><a:r><a:rPr lang="en-US" sz="2200" b="1"/><a:t>June 1, Afternoon: </a:t></a:r><a:r><a:rPr lang="en-US" sz="2000"/><a:t>Martial law declared. 35 blocks destroyed.</a:t></a:r></a:p></p:txBody></p:sp>
    </p:spTree>
  </p:cSld>
</p:sld>
</file>

<file path=ppt/slides/slide5.xml><?xml version="1.0" encoding="UTF-8" standalone="yes"?>
<p:sld xmlns:p="http://schemas.openxmlformats.org/presentationml/2006/main">
  <p:cSld>
    <p:bg><p:bgPr><a:solidFill xmlns:a="http://schemas.openxmlformats.org/drawingml/2006/main"><a:srgbClr val="FFF5EE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THE DESTRUCTION</a:t></a:r></a:p></p:txBody></p:sp>
      <p:sp><p:nvSpPr><p:cNvPr id="3" name="Numbers"/><p:cNvSpPr/><p:nvPr/></p:nvSpPr><p:spPr/><p:txBody><a:bodyPr xmlns:a="http://schemas.openxmlformats.org/drawingml/2006/main"/><a:lstStyle/><a:p><a:r><a:rPr lang="en-US" sz="2400" b="1"/><a:t>Deaths:</a:t></a:r><a:r><a:rPr lang="en-US" sz="2000"/><a:t> Official: 36 | Actual: 100-300+</a:t></a:r></a:p><a:p><a:r><a:rPr lang="en-US" sz="2400" b="1"/><a:t>Homes Destroyed:</a:t></a:r><a:r><a:rPr lang="en-US" sz="2000"/><a:t> 1,256</a:t></a:r></a:p><a:p><a:r><a:rPr lang="en-US" sz="2400" b="1"/><a:t>Businesses Destroyed:</a:t></a:r><a:r><a:rPr lang="en-US" sz="2000"/><a:t> 191</a:t></a:r></a:p><a:p><a:r><a:rPr lang="en-US" sz="2400" b="1"/><a:t>City Blocks Burned:</a:t></a:r><a:r><a:rPr lang="en-US" sz="2000"/><a:t> 35+</a:t></a:r></a:p><a:p><a:r><a:rPr lang="en-US" sz="2400" b="1"/><a:t>Property Loss:</a:t></a:r><a:r><a:rPr lang="en-US" sz="2000"/><a:t> $1.8M (1921) = ~$40.6M (2025)</a:t></a:r></a:p><a:p><a:r><a:rPr lang="en-US" sz="2400" b="1"/><a:t>People Interned:</a:t></a:r><a:r><a:rPr lang="en-US" sz="2000"/><a:t> Up to 6,000 Black residents</a:t></a:r></a:p><a:p><a:r><a:rPr lang="en-US" sz="2400" b="1"/><a:t>Homeless:</a:t></a:r><a:r><a:rPr lang="en-US" sz="2000"/><a:t> ~10,000 people</a:t></a:r></a:p></p:txBody></p:sp>
    </p:spTree>
  </p:cSld>
</p:sld>
</file>

<file path=ppt/slides/slide6.xml><?xml version="1.0" encoding="UTF-8" standalone="yes"?>
<p:sld xmlns:p="http://schemas.openxmlformats.org/presentationml/2006/main">
  <p:cSld>
    <p:bg><p:bgPr><a:solidFill xmlns:a="http://schemas.openxmlformats.org/drawingml/2006/main"><a:srgbClr val="F0F5FF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1a1a8b"/><a:t>76 YEARS OF SILENCE (1921-1997)</a:t></a:r></a:p></p:txBody></p:sp>
      <p:sp><p:nvSpPr><p:cNvPr id="3" name="Content"/><p:cNvSpPr/><p:nvPr/></p:nvSpPr><p:spPr/><p:txBody><a:bodyPr xmlns:a="http://schemas.openxmlformats.org/drawingml/2006/main"/><a:lstStyle/><a:p><a:r><a:rPr lang="en-US" sz="2200"/><a:t>• Erased from textbooks and school curricula</a:t></a:r></a:p><a:p><a:r><a:rPr lang="en-US" sz="2200"/><a:t>• Survivors pressured into silence</a:t></a:r></a:p><a:p><a:r><a:rPr lang="en-US" sz="2200"/><a:t>• No insurance payouts for destroyed property</a:t></a:r></a:p><a:p><a:r><a:rPr lang="en-US" sz="2200"/><a:t>• Survivors forced to rebuild with nothing</a:t></a:r></a:p><a:p><a:r><a:rPr lang="en-US" sz="2200"/><a:t>• City officials blocked reconstruction efforts</a:t></a:r></a:p><a:p><a:r><a:rPr lang="en-US" sz="2200"/><a:t>• No one held accountable for the violence</a:t></a:r></a:p><a:p><a:br/></a:p><a:p><a:r><a:rPr lang="en-US" sz="2400" b="1" i="1" solidFill="8B0000"/><a:t>1997: SILENCE FINALLY BROKEN</a:t></a:r></a:p><a:p><a:r><a:rPr lang="en-US" sz="2000"/><a:t>Oklahoma Legislature establishes commission to investigate</a:t></a:r></a:p></p:txBody></p:sp>
    </p:spTree>
  </p:cSld>
</p:sld>
</file>

<file path=ppt/slides/slide7.xml><?xml version="1.0" encoding="UTF-8" standalone="yes"?>
<p:sld xmlns:p="http://schemas.openxmlformats.org/presentationml/2006/main">
  <p:cSld>
    <p:bg><p:bgPr><a:solidFill xmlns:a="http://schemas.openxmlformats.org/drawingml/2006/main"><a:srgbClr val="E6FFE6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006400"/><a:t>THE CASE FOR REPARATIONS</a:t></a:r></a:p></p:txBody></p:sp>
      <p:sp><p:nvSpPr><p:cNvPr id="3" name="Arguments"/><p:cNvSpPr/><p:nvPr/></p:nvSpPr><p:spPr/><p:txBody><a:bodyPr xmlns:a="http://schemas.openxmlformats.org/drawingml/2006/main"/><a:lstStyle/><a:p><a:r><a:rPr lang="en-US" sz="2200"/><a:t>✓ Clear government liability and negligence</a:t></a:r></a:p><a:p><a:r><a:rPr lang="en-US" sz="2200"/><a:t>✓ Documented harm with verified losses</a:t></a:r></a:p><a:p><a:r><a:rPr lang="en-US" sz="2200"/><a:t>✓ Descendants still experiencing poverty</a:t></a:r></a:p><a:p><a:r><a:rPr lang="en-US" sz="2200"/><a:t>✓ Historical precedent: Japanese Americans compensated</a:t></a:r></a:p><a:p><a:r><a:rPr lang="en-US" sz="2200"/><a:t>✓ No statute of limitations on justice</a:t></a:r></a:p><a:p><a:r><a:rPr lang="en-US" sz="2200"/><a:t>✓ Wealth was stolen—must be restored</a:t></a:r></a:p><a:p><a:r><a:rPr lang="en-US" sz="2200"/><a:t>✓ Healing requires acknowledgment and repair</a:t></a:r></a:p></p:txBody></p:sp>
    </p:spTree>
  </p:cSld>
</p:sld>
</file>

<file path=ppt/slides/slide8.xml><?xml version="1.0" encoding="UTF-8" standalone="yes"?>
<p:sld xmlns:p="http://schemas.openxmlformats.org/presentationml/2006/main">
  <p:cSld>
    <p:bg><p:bgPr><a:solidFill xmlns:a="http://schemas.openxmlformats.org/drawingml/2006/main"><a:srgbClr val="FFE6E6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ARGUMENTS AGAINST REPARATIONS</a:t></a:r></a:p></p:txBody></p:sp>
      <p:sp><p:nvSpPr><p:cNvPr id="3" name="Arguments"/><p:cNvSpPr/><p:nvPr/></p:nvSpPr><p:spPr/><p:txBody><a:bodyPr xmlns:a="http://schemas.openxmlformats.org/drawingml/2006/main"/><a:lstStyle/><a:p><a:r><a:rPr lang="en-US" sz="2200"/><a:t>✗ Over 100 years have passed</a:t></a:r></a:p><a:p><a:r><a:rPr lang="en-US" sz="2200"/><a:t>✗ Most survivors deceased</a:t></a:r></a:p><a:p><a:r><a:rPr lang="en-US" sz="2200"/><a:t>✗ How to verify descendants?</a:t></a:r></a:p><a:p><a:r><a:rPr lang="en-US" sz="2200"/><a:t>✗ Enormous cost—who pays?</a:t></a:r></a:p><a:p><a:r><a:rPr lang="en-US" sz="2200"/><a:t>✗ Sets precedent for other cases</a:t></a:r></a:p><a:p><a:r><a:rPr lang="en-US" sz="2200"/><a:t>✗ Are other forms of justice better?</a:t></a:r></a:p><a:p><a:r><a:rPr lang="en-US" sz="2200"/><a:t>✗ Practical implementation challenges</a:t></a:r></a:p></p:txBody></p:sp>
    </p:spTree>
  </p:cSld>
</p:sld>
</file>

<file path=ppt/slides/slide9.xml><?xml version="1.0" encoding="UTF-8" standalone="yes"?>
<p:sld xmlns:p="http://schemas.openxmlformats.org/presentationml/2006/main">
  <p:cSld>
    <p:bg><p:bgPr><a:solidFill xmlns:a="http://schemas.openxmlformats.org/drawingml/2006/main"><a:srgbClr val="FFF5F0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/><a:lstStyle/><a:p><a:r><a:rPr lang="en-US" sz="5400" b="1" solidFill="8B0000"/><a:t>FORMS OF REPARATIONS</a:t></a:r></a:p></p:txBody></p:sp>
      <p:sp><p:nvSpPr><p:cNvPr id="3" name="Types"/><p:cNvSpPr/><p:nvPr/></p:nvSpPr><p:spPr/><p:txBody><a:bodyPr xmlns:a="http://schemas.openxmlformats.org/drawingml/2006/main"/><a:lstStyle/><a:p><a:r><a:rPr lang="en-US" sz="2300" b="1"/><a:t>Direct Payments:</a:t></a:r><a:r><a:rPr lang="en-US" sz="2000"/><a:t> $100,000-$500,000 per family</a:t></a:r></a:p><a:p><a:r><a:rPr lang="en-US" sz="2300" b="1"/><a:t>Educational Funds:</a:t></a:r><a:r><a:rPr lang="en-US" sz="2000"/><a:t> Full scholarships for descendants</a:t></a:r></a:p><a:p><a:r><a:rPr lang="en-US" sz="2300" b="1"/><a:t>Land Restoration:</a:t></a:r><a:r><a:rPr lang="en-US" sz="2000"/><a:t> Return properties or equivalent value</a:t></a:r></a:p><a:p><a:r><a:rPr lang="en-US" sz="2300" b="1"/><a:t>Community Development:</a:t></a:r><a:r><a:rPr lang="en-US" sz="2000"/><a:t> Economic restoration of Greenwood</a:t></a:r></a:p><a:p><a:r><a:rPr lang="en-US" sz="2300" b="1"/><a:t>Memorials & Education:</a:t></a:r><a:r><a:rPr lang="en-US" sz="2000"/><a:t> Museum, monument, required curriculum</a:t></a:r></a:p><a:p><a:r><a:rPr lang="en-US" sz="2300" b="1"/><a:t>Official Apology:</a:t></a:r><a:r><a:rPr lang="en-US" sz="2000"/><a:t> City/state acknowledge wrongdoing</a:t></a:r></a:p></p:txBody></p:sp>
    </p:spTree>
  </p:cSld>
</p:sld>
</file>

<file path=ppt/slides/slide10.xml><?xml version="1.0" encoding="UTF-8" standalone="yes"?>
<p:sld xmlns:p="http://schemas.openxmlformats.org/presentationml/2006/main">
  <p:cSld>
    <p:bg><p:bgPr><a:solidFill xmlns:a="http://schemas.openxmlformats.org/drawingml/2006/main"><a:srgbClr val="1a1a1a"/></a:solidFill></p:bgPr></p:bg>
    <p:spTree>
      <p:nvGrpSpPr><p:cNvPr id="1" name="1"/><p:cNvGrpSpPr/><p:nvPr/></p:nvGrpSpPr>
      <p:grpSpPr><a:xfrm xmlns:a="http://schemas.openxmlformats.org/drawingml/2006/main"><a:off x="0" y="0"/><a:ext cx="9144000" cy="6858000"/><a:chOff x="0" y="0"/><a:chExt cx="9144000" cy="6858000"/></a:xfrm></p:grpSpPr>
      <p:sp><p:nvSpPr><p:cNvPr id="2" name="Title"/><p:cNvSpPr/><p:nvPr/></p:nvSpPr><p:spPr/><p:txBody><a:bodyPr xmlns:a="http://schemas.openxmlformats.org/drawingml/2006/main" anchor="ctr"/><a:lstStyle/><a:p><a:r><a:rPr lang="en-US" sz="6400" b="1" solidFill="FFFFFF"/><a:t>WHAT DOES JUSTICE LOOK LIKE?</a:t></a:r></a:p><a:p><a:br/></a:p><a:p><a:r><a:rPr lang="en-US" sz="3200" i="1" solidFill="FFD700"/><a:t>Learn the history.</a:t></a:r></a:p><a:p><a:r><a:rPr lang="en-US" sz="3200" i="1" solidFill="FFD700"/><a:t>Join the conversation.</a:t></a:r></a:p><a:p><a:r><a:rPr lang="en-US" sz="3200" i="1" solidFill="FFD700"/><a:t>Demand accountability.</a:t></a:r></a:p></p:txBody></p:sp>
    </p:spTree>
  </p:cSld>
</p:sld>
</file>